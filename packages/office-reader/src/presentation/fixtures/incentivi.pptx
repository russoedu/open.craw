
<file path=_rels/.rels><?xml version="1.0" encoding="UTF-8" standalone="yes"?>
<Relationships xmlns="https://schemas.openxmlformats.org/package/2006/relationships"><Relationship Id="rId1" Type="https://schemas.openxmlformats.org/officeDocument/2006/relationships/officeDocument" Target="ppt/presentation.xml"/></Relationships>
</file>

<file path=ppt/presentation.xml><?xml version="1.0" encoding="utf-8"?>
<p:presentation xmlns:p="https://schemas.openxmlformats.org/presentationml/2006/main" xmlns:r="https://schemas.openxmlformats.org/officeDocument/2006/relationships">
  <p:sldIdLst>
    <p:sldId id="256" r:id="rId3"/>
    <p:sldId id="257" r:id="rId4"/>
    <p:sldId id="258" r:id="rId5"/>
    <p:sldId id="259" r:id="rId6"/>
  </p:sldIdLst>
  <p:sldSz cx="12192000" cy="6858000"/>
</p:presentation>
</file>

<file path=ppt/_rels/presentation.xml.rels><?xml version="1.0" encoding="UTF-8" standalone="yes"?>
<Relationships xmlns="https://schemas.openxmlformats.org/package/2006/relationships"><Relationship Id="rId3" Type="https://schemas.openxmlformats.org/officeDocument/2006/relationships/slide" Target="slides/slide4.xml"/><Relationship Id="rId4" Type="https://schemas.openxmlformats.org/officeDocument/2006/relationships/slide" Target="slides/slide1.xml"/><Relationship Id="rId5" Type="https://schemas.openxmlformats.org/officeDocument/2006/relationships/slide" Target="slides/slide2.xml"/><Relationship Id="rId6" Type="https://schemas.openxmlformats.org/officeDocument/2006/relationships/slide" Target="slides/slide3.xml"/></Relationships>
</file>

<file path=ppt/charts/chart1.xml><?xml version="1.0" encoding="utf-8"?>
<c:chartSpace xmlns:c="https://schemas.openxmlformats.org/drawingml/2006/chart" xmlns:a="https://schemas.openxmlformats.org/drawingml/2006/main">
  <c:chart>
    <c:title>
      <c:tx>
        <c:rich>
          <a:bodyPr/>
          <a:p>
            <a:r>
              <a:t>Immatricolazioni</a:t>
            </a:r>
          </a:p>
        </c:rich>
      </c:tx>
    </c:title>
    <c:plotArea>
      <c:barChart>
        <c:barDir val="col"/>
        <c:ser>
          <c:idx val="0"/>
          <c:tx>
            <c:strRef>
              <c:f>Sheet1!$B$1</c:f>
              <c:strCache>
                <c:ptCount val="1"/>
                <c:pt idx="0">
                  <c:v>Pandina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Aprile</c:v>
                </c:pt>
                <c:pt idx="1">
                  <c:v>Maggio</c:v>
                </c:pt>
                <c:pt idx="2">
                  <c:v>Giugno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1350.5</c:v>
                </c:pt>
                <c:pt idx="2">
                  <c:v>1410</c:v>
                </c:pt>
              </c:numCache>
            </c:numRef>
          </c:val>
        </c:ser>
        <c:ser>
          <c:idx val="0"/>
          <c:tx>
            <c:strRef>
              <c:f>Sheet1!$B$1</c:f>
              <c:strCache>
                <c:ptCount val="1"/>
                <c:pt idx="0">
                  <c:v>600e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Aprile</c:v>
                </c:pt>
                <c:pt idx="1">
                  <c:v>Maggio</c:v>
                </c:pt>
                <c:pt idx="2">
                  <c:v>Giugno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2">
                  <c:v>410</c:v>
                </c:pt>
              </c:numCache>
            </c:numRef>
          </c:val>
        </c:ser>
      </c:barChart>
      <c:catAx>
        <c:title>
          <c:tx>
            <c:rich>
              <a:p>
                <a:r>
                  <a:t>Mese</a:t>
                </a:r>
              </a:p>
            </c:rich>
          </c:tx>
        </c:title>
      </c:catAx>
    </c:plotArea>
  </c:chart>
</c:chartSpace>
</file>

<file path=ppt/notesSlides/notesSlide1.xml><?xml version="1.0" encoding="utf-8"?>
<p:notes xmlns:p="https://schemas.openxmlformats.org/presentationml/2006/main" xmlns:a="https://schemas.openxmlformats.org/drawing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  <a:p>
            <a:r>
              <a:t/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t>Prezzi IVA inclusa.</a:t>
            </a:r>
          </a:p>
          <a:p>
            <a:r>
              <a:t>Validi fino al 30 giugno.</a:t>
            </a:r>
          </a:p>
        </p:txBody>
      </p:sp>
      <p:sp>
        <p:nvSpPr>
          <p:cNvPr id="4" name="sldNum"/>
          <p:cNvSpPr/>
          <p:nvPr>
            <p:ph type="sldNum"/>
          </p:nvPr>
        </p:nvSpPr>
        <p:spPr/>
        <p:txBody>
          <a:bodyPr/>
          <a:p>
            <a:r>
              <a:t>1</a:t>
            </a:r>
          </a:p>
        </p:txBody>
      </p:sp>
    </p:spTree>
  </p:cSld>
</p:notes>
</file>

<file path=ppt/slideLayouts/_rels/slideLayout1.xml.rels><?xml version="1.0" encoding="UTF-8" standalone="yes"?>
<Relationships xmlns="https://schemas.openxmlformats.org/package/2006/relationships"><Relationship Id="rId1" Type="https://schemas.openxmlformats.org/officeDocument/2006/relationships/slideMaster" Target="../slideMasters/slideMaster1.xml"/></Relationships>
</file>

<file path=ppt/slideLayouts/slideLayout1.xml><?xml version="1.0" encoding="utf-8"?>
<p:sldLayout xmlns:p="https://schemas.openxmlformats.org/presentationml/2006/main" xmlns:a="https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762000" y="381000"/>
            <a:ext cx="10668000" cy="762000"/>
          </a:xfrm>
        </p:spPr>
      </p:sp>
    </p:spTree>
  </p:cSld>
</p:sldLayout>
</file>

<file path=ppt/slideMasters/slideMaster1.xml><?xml version="1.0" encoding="utf-8"?>
<p:sldMaster xmlns:p="https://schemas.openxmlformats.org/presentationml/2006/main" xmlns:a="https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508000" y="254000"/>
            <a:ext cx="11176000" cy="889000"/>
          </a:xfrm>
        </p:spPr>
      </p:sp>
      <p:sp>
        <p:nvSpPr>
          <p:cNvPr id="3" name="Body"/>
          <p:cNvSpPr/>
          <p:nvPr>
            <p:ph type="body" idx="1"/>
          </p:nvPr>
        </p:nvSpPr>
        <p:spPr>
          <a:xfrm>
            <a:off x="762000" y="1397000"/>
            <a:ext cx="10668000" cy="4826000"/>
          </a:xfrm>
        </p:spPr>
      </p:sp>
    </p:spTree>
  </p:cSld>
</p:sldMaster>
</file>

<file path=ppt/slides/_rels/slide1.xml.rels><?xml version="1.0" encoding="UTF-8" standalone="yes"?>
<Relationships xmlns="https://schemas.openxmlformats.org/package/2006/relationships"><Relationship Id="rId1" Type="https://schemas.openxmlformats.org/officeDocument/2006/relationships/slideLayout" Target="../slideLayouts/slideLayout1.xml"/></Relationships>
</file>

<file path=ppt/slides/_rels/slide2.xml.rels><?xml version="1.0" encoding="UTF-8" standalone="yes"?>
<Relationships xmlns="https://schemas.openxmlformats.org/package/2006/relationships"><Relationship Id="rId1" Type="https://schemas.openxmlformats.org/officeDocument/2006/relationships/slideLayout" Target="../slideLayouts/slideLayout1.xml"/><Relationship Id="rId2" Type="https://schemas.openxmlformats.org/officeDocument/2006/relationships/chart" Target="../charts/chart1.xml"/></Relationships>
</file>

<file path=ppt/slides/_rels/slide3.xml.rels><?xml version="1.0" encoding="UTF-8" standalone="yes"?>
<Relationships xmlns="https://schemas.openxmlformats.org/package/2006/relationships"><Relationship Id="rId1" Type="https://schemas.openxmlformats.org/officeDocument/2006/relationships/slideLayout" Target="../slideLayouts/slideLayout1.xml"/></Relationships>
</file>

<file path=ppt/slides/_rels/slide4.xml.rels><?xml version="1.0" encoding="UTF-8" standalone="yes"?>
<Relationships xmlns="https://schemas.openxmlformats.org/package/2006/relationships"><Relationship Id="rId1" Type="https://schemas.openxmlformats.org/officeDocument/2006/relationships/slideLayout" Target="../slideLayouts/slideLayout1.xml"/><Relationship Id="rId2" Type="https://schemas.openxmlformats.org/officeDocument/2006/relationships/notesSlide" Target="../notesSlides/notesSlide1.xml"/></Relationships>
</file>

<file path=ppt/slides/slide1.xml><?xml version="1.0" encoding="utf-8"?>
<p:sld xmlns:p="https://schemas.openxmlformats.org/presentationml/2006/main" xmlns:a="https://schemas.openxmlformats.org/drawingml/2006/main" xmlns:r="https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Griglia prezzi Jeep</a:t>
            </a:r>
          </a:p>
        </p:txBody>
      </p:sp>
      <p:grpSp>
        <p:nvGrpSpPr>
          <p:cNvPr id="10" name="grid"/>
          <p:cNvGrpSpPr/>
          <p:nvPr/>
        </p:nvGrpSpPr>
        <p:grpSpPr>
          <a:xfrm>
            <a:off x="762000" y="1524000"/>
            <a:ext cx="7620000" cy="1143000"/>
            <a:chOff x="0" y="0"/>
            <a:chExt cx="15240000" cy="2286000"/>
          </a:xfrm>
        </p:grpSpPr>
        <p:sp>
          <p:nvSpPr>
            <p:cNvPr id="11" name="box 11"/>
            <p:cNvSpPr txBox="1"/>
            <p:nvPr/>
          </p:nvSpPr>
          <p:spPr>
            <a:xfrm>
              <a:off x="0" y="0"/>
              <a:ext cx="4826000" cy="635000"/>
            </a:xfrm>
          </p:spPr>
          <p:txBody>
            <a:bodyPr/>
            <a:p>
              <a:r>
                <a:t>Modello</a:t>
              </a:r>
            </a:p>
          </p:txBody>
        </p:sp>
        <p:sp>
          <p:nvSpPr>
            <p:cNvPr id="12" name="box 12"/>
            <p:cNvSpPr txBox="1"/>
            <p:nvPr/>
          </p:nvSpPr>
          <p:spPr>
            <a:xfrm>
              <a:off x="5080000" y="0"/>
              <a:ext cx="4826000" cy="635000"/>
            </a:xfrm>
          </p:spPr>
          <p:txBody>
            <a:bodyPr/>
            <a:p>
              <a:r>
                <a:t>Prezzo</a:t>
              </a:r>
            </a:p>
          </p:txBody>
        </p:sp>
        <p:sp>
          <p:nvSpPr>
            <p:cNvPr id="13" name="box 13"/>
            <p:cNvSpPr txBox="1"/>
            <p:nvPr/>
          </p:nvSpPr>
          <p:spPr>
            <a:xfrm>
              <a:off x="10160000" y="0"/>
              <a:ext cx="4826000" cy="635000"/>
            </a:xfrm>
          </p:spPr>
          <p:txBody>
            <a:bodyPr/>
            <a:p>
              <a:r>
                <a:t>Sconto</a:t>
              </a:r>
            </a:p>
          </p:txBody>
        </p:sp>
        <p:sp>
          <p:nvSpPr>
            <p:cNvPr id="14" name="box 14"/>
            <p:cNvSpPr txBox="1"/>
            <p:nvPr/>
          </p:nvSpPr>
          <p:spPr>
            <a:xfrm>
              <a:off x="0" y="762000"/>
              <a:ext cx="4826000" cy="635000"/>
            </a:xfrm>
          </p:spPr>
          <p:txBody>
            <a:bodyPr/>
            <a:p>
              <a:r>
                <a:t>Avenger</a:t>
              </a:r>
            </a:p>
          </p:txBody>
        </p:sp>
        <p:sp>
          <p:nvSpPr>
            <p:cNvPr id="15" name="box 15"/>
            <p:cNvSpPr txBox="1"/>
            <p:nvPr/>
          </p:nvSpPr>
          <p:spPr>
            <a:xfrm>
              <a:off x="5080000" y="762000"/>
              <a:ext cx="4826000" cy="635000"/>
            </a:xfrm>
          </p:spPr>
          <p:txBody>
            <a:bodyPr/>
            <a:p>
              <a:r>
                <a:t>24.950 €</a:t>
              </a:r>
            </a:p>
          </p:txBody>
        </p:sp>
        <p:sp>
          <p:nvSpPr>
            <p:cNvPr id="16" name="box 16"/>
            <p:cNvSpPr txBox="1"/>
            <p:nvPr/>
          </p:nvSpPr>
          <p:spPr>
            <a:xfrm>
              <a:off x="10160000" y="762000"/>
              <a:ext cx="4826000" cy="635000"/>
            </a:xfrm>
          </p:spPr>
          <p:txBody>
            <a:bodyPr/>
            <a:p>
              <a:r>
                <a:t>8%</a:t>
              </a:r>
            </a:p>
          </p:txBody>
        </p:sp>
        <p:sp>
          <p:nvSpPr>
            <p:cNvPr id="17" name="box 17"/>
            <p:cNvSpPr txBox="1"/>
            <p:nvPr/>
          </p:nvSpPr>
          <p:spPr>
            <a:xfrm>
              <a:off x="0" y="1524000"/>
              <a:ext cx="4826000" cy="635000"/>
            </a:xfrm>
          </p:spPr>
          <p:txBody>
            <a:bodyPr/>
            <a:p>
              <a:r>
                <a:t>Compass</a:t>
              </a:r>
            </a:p>
          </p:txBody>
        </p:sp>
        <p:sp>
          <p:nvSpPr>
            <p:cNvPr id="18" name="box 18"/>
            <p:cNvSpPr txBox="1"/>
            <p:nvPr/>
          </p:nvSpPr>
          <p:spPr>
            <a:xfrm>
              <a:off x="5080000" y="1524000"/>
              <a:ext cx="4826000" cy="635000"/>
            </a:xfrm>
          </p:spPr>
          <p:txBody>
            <a:bodyPr/>
            <a:p>
              <a:r>
                <a:t>39.900 €</a:t>
              </a:r>
            </a:p>
          </p:txBody>
        </p:sp>
        <p:sp>
          <p:nvSpPr>
            <p:cNvPr id="19" name="box 19"/>
            <p:cNvSpPr txBox="1"/>
            <p:nvPr/>
          </p:nvSpPr>
          <p:spPr>
            <a:xfrm>
              <a:off x="10160000" y="1524000"/>
              <a:ext cx="4826000" cy="635000"/>
            </a:xfrm>
          </p:spPr>
          <p:txBody>
            <a:bodyPr/>
            <a:p>
              <a:r>
                <a:t>10%</a:t>
              </a:r>
            </a:p>
          </p:txBody>
        </p:sp>
      </p:grpSp>
    </p:spTree>
  </p:cSld>
</p:sld>
</file>

<file path=ppt/slides/slide2.xml><?xml version="1.0" encoding="utf-8"?>
<p:sld xmlns:p="https://schemas.openxmlformats.org/presentationml/2006/main" xmlns:a="https://schemas.openxmlformats.org/drawingml/2006/main" xmlns:r="https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Vendite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t>Fonte: UNRAE</a:t>
            </a:r>
          </a:p>
        </p:txBody>
      </p:sp>
      <p:graphicFrame>
        <p:nvGraphicFramePr>
          <p:cNvPr id="20" name="Grafico"/>
          <p:cNvGraphicFramePr/>
          <p:nvPr/>
        </p:nvGraphicFramePr>
        <p:xfrm>
          <a:off x="762000" y="1524000"/>
          <a:ext cx="7620000" cy="4572000"/>
        </p:xfrm>
        <a:graphic>
          <a:graphicData uri="https://schemas.openxmlformats.org/drawingml/2006/chart">
            <c:chart xmlns:c="https://schemas.openxmlformats.org/drawingml/2006/chart" r:id="rId2"/>
          </a:graphicData>
        </a:graphic>
      </p:graphicFrame>
    </p:spTree>
  </p:cSld>
</p:sld>
</file>

<file path=ppt/slides/slide3.xml><?xml version="1.0" encoding="utf-8"?>
<p:sld xmlns:p="https://schemas.openxmlformats.org/presentationml/2006/main" xmlns:a="https://schemas.openxmlformats.org/drawingml/2006/main" xmlns:r="https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Bozza</a:t>
            </a:r>
          </a:p>
        </p:txBody>
      </p:sp>
    </p:spTree>
  </p:cSld>
</p:sld>
</file>

<file path=ppt/slides/slide4.xml><?xml version="1.0" encoding="utf-8"?>
<p:sld xmlns:p="https://schemas.openxmlformats.org/presentationml/2006/main" xmlns:a="https://schemas.openxmlformats.org/drawingml/2006/main" xmlns:r="https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Incentivi giugno</a:t>
            </a:r>
          </a:p>
        </p:txBody>
      </p:sp>
      <p:graphicFrame>
        <p:nvGraphicFramePr>
          <p:cNvPr id="4" name="Tabella"/>
          <p:cNvGraphicFramePr/>
          <p:nvPr/>
        </p:nvGraphicFramePr>
        <p:xfrm>
          <a:off x="762000" y="1524000"/>
          <a:ext cx="10668000" cy="2032000"/>
        </p:xfrm>
        <a:graphic>
          <a:graphicData uri="https://schemas.openxmlformats.org/drawingml/2006/main/table">
            <a:tbl>
              <a:tblGrid>
                <a:gridCol w="3810000"/>
                <a:gridCol w="2286000"/>
                <a:gridCol w="2286000"/>
                <a:gridCol w="2286000"/>
              </a:tblGrid>
              <a:tr h="254000">
                <a:tc gridSpan="4">
                  <a:txBody>
                    <a:bodyPr/>
                    <a:p>
                      <a:r>
                        <a:t>Incentivi giugno 2026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  <a:tr h="254000">
                <a:tc rowSpan="2">
                  <a:txBody>
                    <a:bodyPr/>
                    <a:p>
                      <a:r>
                        <a:t>Modello</a:t>
                      </a:r>
                    </a:p>
                  </a:txBody>
                </a:tc>
                <a:tc gridSpan="2">
                  <a:txBody>
                    <a:bodyPr/>
                    <a:p>
                      <a:r>
                        <a:t>Prezzo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  <a:tc rowSpan="2">
                  <a:txBody>
                    <a:bodyPr/>
                    <a:p>
                      <a:r>
                        <a:t>Sconto</a:t>
                      </a:r>
                    </a:p>
                  </a:txBody>
                </a:tc>
              </a:tr>
              <a:tr h="254000">
                <a:tc v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  <a:tc>
                  <a:txBody>
                    <a:bodyPr/>
                    <a:p>
                      <a:r>
                        <a:t>Listino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Netto</a:t>
                      </a:r>
                    </a:p>
                  </a:txBody>
                </a:tc>
                <a:tc v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  <a:tr h="254000">
                <a:tc>
                  <a:txBody>
                    <a:bodyPr/>
                    <a:p>
                      <a:r>
                        <a:t>Pandina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15.950 €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13.955 €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12,5%</a:t>
                      </a:r>
                    </a:p>
                  </a:txBody>
                </a:tc>
              </a:tr>
              <a:tr h="254000">
                <a:tc>
                  <a:txBody>
                    <a:bodyPr/>
                    <a:p>
                      <a:r>
                        <a:t>Pandina Cross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17.950 €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15.706 €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12,5%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sldNum"/>
          <p:cNvSpPr/>
          <p:nvPr>
            <p:ph type="sldNum"/>
          </p:nvPr>
        </p:nvSpPr>
        <p:spPr/>
        <p:txBody>
          <a:bodyPr/>
          <a:p>
            <a:r>
              <a:t>1</a:t>
            </a:r>
          </a:p>
        </p:txBody>
      </p:sp>
    </p:spTree>
  </p:cSld>
</p:sld>
</file>